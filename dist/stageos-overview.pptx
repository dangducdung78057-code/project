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155448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0" b="1" dirty="0">
                <a:solidFill>
                  <a:srgbClr val="1A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822960" y="4297680"/>
            <a:ext cx="13716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774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spc="4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StageOS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spc="800" kern="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项目总览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能力驱动系统 · 版本仅为标签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 · 治理章程 v1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11535" y="60350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4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31175" y="137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能力驱动 · 舞台运营系统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章节 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一句话定位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82296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8346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能力驱动 </a:t>
            </a:r>
            <a:pPr indent="0" marL="0">
              <a:buNone/>
            </a:pPr>
            <a:r>
              <a:rPr lang="en-US" sz="3800" spc="2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的系统,不是 </a:t>
            </a:r>
            <a:pPr indent="0" marL="0">
              <a:buNone/>
            </a:pPr>
            <a:r>
              <a:rPr lang="en-US" sz="3800" b="1" spc="200" kern="0" dirty="0">
                <a:solidFill>
                  <a:srgbClr val="C842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版本驱动 </a:t>
            </a:r>
            <a:pPr indent="0" marL="0">
              <a:buNone/>
            </a:pPr>
            <a:r>
              <a:rPr lang="en-US" sz="3800" spc="2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的系统。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1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成熟度只以 Capability Layer (L0/L1/L2) + Release Gate (G0-G3) + 一键验收 为准。版本号仅为标签,不驱动发布判断。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45775" y="6355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10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545775" y="6629400"/>
            <a:ext cx="128016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31175" y="137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能力驱动 · 舞台运营系统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章节 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三层能力模型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3520440" cy="3383280"/>
          </a:xfrm>
          <a:prstGeom prst="rect">
            <a:avLst/>
          </a:prstGeom>
          <a:solidFill>
            <a:srgbClr val="1A1A22"/>
          </a:solidFill>
          <a:ln w="6350">
            <a:solidFill>
              <a:srgbClr val="8A84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651760"/>
            <a:ext cx="3520440" cy="82296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697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377440" y="2834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spc="400" kern="0" dirty="0">
                <a:solidFill>
                  <a:srgbClr val="1A1A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生产就绪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379476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面向所有用户开放,验收 PASS。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17720" y="2651760"/>
            <a:ext cx="3520440" cy="3383280"/>
          </a:xfrm>
          <a:prstGeom prst="rect">
            <a:avLst/>
          </a:prstGeom>
          <a:solidFill>
            <a:srgbClr val="1A1A22"/>
          </a:solidFill>
          <a:ln w="6350">
            <a:solidFill>
              <a:srgbClr val="8A84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2651760"/>
            <a:ext cx="3520440" cy="822960"/>
          </a:xfrm>
          <a:prstGeom prst="rect">
            <a:avLst/>
          </a:prstGeom>
          <a:solidFill>
            <a:srgbClr val="F5E8C8"/>
          </a:solidFill>
          <a:ln w="12700">
            <a:solidFill>
              <a:srgbClr val="F5E8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697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172200" y="2834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spc="400" kern="0" dirty="0">
                <a:solidFill>
                  <a:srgbClr val="1A1A2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受限可用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92040" y="379476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允许 fallback,验收允许 WARN。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412480" y="2651760"/>
            <a:ext cx="3520440" cy="3383280"/>
          </a:xfrm>
          <a:prstGeom prst="rect">
            <a:avLst/>
          </a:prstGeom>
          <a:solidFill>
            <a:srgbClr val="1A1A22"/>
          </a:solidFill>
          <a:ln w="6350">
            <a:solidFill>
              <a:srgbClr val="8A84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2651760"/>
            <a:ext cx="3520440" cy="822960"/>
          </a:xfrm>
          <a:prstGeom prst="rect">
            <a:avLst/>
          </a:prstGeom>
          <a:solidFill>
            <a:srgbClr val="C8423B"/>
          </a:solidFill>
          <a:ln w="12700">
            <a:solidFill>
              <a:srgbClr val="C842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26974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E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9966960" y="28346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spc="4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实验能力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0" y="379476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SKIP 视为未启用,不可跨层升级。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842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禁止:跨层升级未过 Gate;L2 直接进 L0;FAIL 隐藏为 SKIP。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45775" y="6355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10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545775" y="6629400"/>
            <a:ext cx="128016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31175" y="137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能力驱动 · 舞台运营系统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章节 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发布门禁 · Gate G0-G3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914400" y="3840480"/>
            <a:ext cx="1033272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3639312"/>
            <a:ext cx="402336" cy="402336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-36576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E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-365760" y="4206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-365760" y="4663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允许 L2 实验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57472" y="3639312"/>
            <a:ext cx="402336" cy="402336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848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E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078480" y="4206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078480" y="4663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L1 可开放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601712" y="3639312"/>
            <a:ext cx="402336" cy="402336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272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E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522720" y="4206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22720" y="4663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L0 已就绪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1045952" y="3639312"/>
            <a:ext cx="402336" cy="402336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0" y="27432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E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966960" y="42062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400" kern="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发布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966960" y="4663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验收全 PASS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Gate 判断只看能力就绪度与验收结果,不看版本号。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45775" y="6355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10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545775" y="6629400"/>
            <a:ext cx="128016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31175" y="137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能力驱动 · 舞台运营系统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章节 05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一键验收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每模块唯一状态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880360"/>
            <a:ext cx="201168" cy="54864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880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28803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生产就绪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22960" y="3657600"/>
            <a:ext cx="201168" cy="5486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657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WARN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291840" y="3657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允许 fallback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22960" y="4434840"/>
            <a:ext cx="201168" cy="548640"/>
          </a:xfrm>
          <a:prstGeom prst="rect">
            <a:avLst/>
          </a:prstGeom>
          <a:solidFill>
            <a:srgbClr val="C8423B"/>
          </a:solidFill>
          <a:ln w="12700">
            <a:solidFill>
              <a:srgbClr val="C842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4348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91840" y="4434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阻断 Gate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22960" y="5212080"/>
            <a:ext cx="201168" cy="548640"/>
          </a:xfrm>
          <a:prstGeom prst="rect">
            <a:avLst/>
          </a:prstGeom>
          <a:solidFill>
            <a:srgbClr val="8A8478"/>
          </a:solidFill>
          <a:ln w="12700">
            <a:solidFill>
              <a:srgbClr val="8A84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521208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E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SKIP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291840" y="5212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spc="2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未启用 ≠ 失败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842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规则:FAIL 阻断 Gate,不得降级为 SKIP;SKIP 是「未启用」而非「失败」。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45775" y="6355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10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545775" y="6629400"/>
            <a:ext cx="128016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31175" y="137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能力驱动 · 舞台运营系统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章节 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能力现状快照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3291840" cy="502920"/>
          </a:xfrm>
          <a:prstGeom prst="rect">
            <a:avLst/>
          </a:prstGeom>
          <a:solidFill>
            <a:srgbClr val="1A1A22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4688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0" y="2468880"/>
            <a:ext cx="1463040" cy="502920"/>
          </a:xfrm>
          <a:prstGeom prst="rect">
            <a:avLst/>
          </a:prstGeom>
          <a:solidFill>
            <a:srgbClr val="1A1A22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24688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层级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77840" y="2468880"/>
            <a:ext cx="1645920" cy="502920"/>
          </a:xfrm>
          <a:prstGeom prst="rect">
            <a:avLst/>
          </a:prstGeom>
          <a:solidFill>
            <a:srgbClr val="1A1A22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24688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23760" y="2468880"/>
            <a:ext cx="4114800" cy="502920"/>
          </a:xfrm>
          <a:prstGeom prst="rect">
            <a:avLst/>
          </a:prstGeom>
          <a:solidFill>
            <a:srgbClr val="1A1A22"/>
          </a:solidFill>
          <a:ln w="9525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2468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备注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2971800"/>
            <a:ext cx="3291840" cy="457200"/>
          </a:xfrm>
          <a:prstGeom prst="rect">
            <a:avLst/>
          </a:prstGeom>
          <a:solidFill>
            <a:srgbClr val="0D0D12"/>
          </a:solidFill>
          <a:ln w="3175">
            <a:solidFill>
              <a:srgbClr val="8A84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971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 生成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0" y="2971800"/>
            <a:ext cx="1463040" cy="457200"/>
          </a:xfrm>
          <a:prstGeom prst="rect">
            <a:avLst/>
          </a:prstGeom>
          <a:solidFill>
            <a:srgbClr val="0D0D12"/>
          </a:solidFill>
          <a:ln w="3175">
            <a:solidFill>
              <a:srgbClr val="8A84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2971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77840" y="2971800"/>
            <a:ext cx="1645920" cy="457200"/>
          </a:xfrm>
          <a:prstGeom prst="rect">
            <a:avLst/>
          </a:prstGeom>
          <a:solidFill>
            <a:srgbClr val="0D0D12"/>
          </a:solidFill>
          <a:ln w="3175">
            <a:solidFill>
              <a:srgbClr val="8A84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2971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223760" y="2971800"/>
            <a:ext cx="4114800" cy="457200"/>
          </a:xfrm>
          <a:prstGeom prst="rect">
            <a:avLst/>
          </a:prstGeom>
          <a:solidFill>
            <a:srgbClr val="0D0D12"/>
          </a:solidFill>
          <a:ln w="3175">
            <a:solidFill>
              <a:srgbClr val="8A84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2971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Lovable AI Gateway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3429000"/>
            <a:ext cx="3291840" cy="457200"/>
          </a:xfrm>
          <a:prstGeom prst="rect">
            <a:avLst/>
          </a:prstGeom>
          <a:solidFill>
            <a:srgbClr val="0D0D12"/>
          </a:solidFill>
          <a:ln w="3175">
            <a:solidFill>
              <a:srgbClr val="8A84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4290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Markdown 导出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0" y="3429000"/>
            <a:ext cx="1463040" cy="457200"/>
          </a:xfrm>
          <a:prstGeom prst="rect">
            <a:avLst/>
          </a:prstGeom>
          <a:solidFill>
            <a:srgbClr val="0D0D12"/>
          </a:solidFill>
          <a:ln w="3175">
            <a:solidFill>
              <a:srgbClr val="8A84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51960" y="34290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577840" y="3429000"/>
            <a:ext cx="1645920" cy="457200"/>
          </a:xfrm>
          <a:prstGeom prst="rect">
            <a:avLst/>
          </a:prstGeom>
          <a:solidFill>
            <a:srgbClr val="0D0D12"/>
          </a:solidFill>
          <a:ln w="3175">
            <a:solidFill>
              <a:srgbClr val="8A84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3429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223760" y="3429000"/>
            <a:ext cx="4114800" cy="457200"/>
          </a:xfrm>
          <a:prstGeom prst="rect">
            <a:avLst/>
          </a:prstGeom>
          <a:solidFill>
            <a:srgbClr val="0D0D12"/>
          </a:solidFill>
          <a:ln w="3175">
            <a:solidFill>
              <a:srgbClr val="8A847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3429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完整覆盖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22960" y="3886200"/>
            <a:ext cx="3291840" cy="457200"/>
          </a:xfrm>
          <a:prstGeom prst="rect">
            <a:avLst/>
          </a:prstGeom>
          <a:solidFill>
            <a:srgbClr val="0D0D12"/>
          </a:solidFill>
          <a:ln w="3175">
            <a:solidFill>
              <a:srgbClr val="8A847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38862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PNG 导出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114800" y="3886200"/>
            <a:ext cx="1463040" cy="457200"/>
          </a:xfrm>
          <a:prstGeom prst="rect">
            <a:avLst/>
          </a:prstGeom>
          <a:solidFill>
            <a:srgbClr val="0D0D12"/>
          </a:solidFill>
          <a:ln w="3175">
            <a:solidFill>
              <a:srgbClr val="8A847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1960" y="3886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L0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577840" y="3886200"/>
            <a:ext cx="1645920" cy="457200"/>
          </a:xfrm>
          <a:prstGeom prst="rect">
            <a:avLst/>
          </a:prstGeom>
          <a:solidFill>
            <a:srgbClr val="0D0D12"/>
          </a:solidFill>
          <a:ln w="3175">
            <a:solidFill>
              <a:srgbClr val="8A847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3886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223760" y="3886200"/>
            <a:ext cx="4114800" cy="457200"/>
          </a:xfrm>
          <a:prstGeom prst="rect">
            <a:avLst/>
          </a:prstGeom>
          <a:solidFill>
            <a:srgbClr val="0D0D12"/>
          </a:solidFill>
          <a:ln w="3175">
            <a:solidFill>
              <a:srgbClr val="8A847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60920" y="3886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客户端渲染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22960" y="4343400"/>
            <a:ext cx="3291840" cy="457200"/>
          </a:xfrm>
          <a:prstGeom prst="rect">
            <a:avLst/>
          </a:prstGeom>
          <a:solidFill>
            <a:srgbClr val="0D0D12"/>
          </a:solidFill>
          <a:ln w="3175">
            <a:solidFill>
              <a:srgbClr val="8A847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4343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PDF 导出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114800" y="4343400"/>
            <a:ext cx="1463040" cy="457200"/>
          </a:xfrm>
          <a:prstGeom prst="rect">
            <a:avLst/>
          </a:prstGeom>
          <a:solidFill>
            <a:srgbClr val="0D0D12"/>
          </a:solidFill>
          <a:ln w="3175">
            <a:solidFill>
              <a:srgbClr val="8A847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51960" y="43434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577840" y="4343400"/>
            <a:ext cx="1645920" cy="457200"/>
          </a:xfrm>
          <a:prstGeom prst="rect">
            <a:avLst/>
          </a:prstGeom>
          <a:solidFill>
            <a:srgbClr val="0D0D12"/>
          </a:solidFill>
          <a:ln w="3175">
            <a:solidFill>
              <a:srgbClr val="8A847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15000" y="4343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8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SKIP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7223760" y="4343400"/>
            <a:ext cx="4114800" cy="457200"/>
          </a:xfrm>
          <a:prstGeom prst="rect">
            <a:avLst/>
          </a:prstGeom>
          <a:solidFill>
            <a:srgbClr val="0D0D12"/>
          </a:solidFill>
          <a:ln w="3175">
            <a:solidFill>
              <a:srgbClr val="8A847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60920" y="4343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实验能力,未开放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822960" y="4800600"/>
            <a:ext cx="3291840" cy="457200"/>
          </a:xfrm>
          <a:prstGeom prst="rect">
            <a:avLst/>
          </a:prstGeom>
          <a:solidFill>
            <a:srgbClr val="0D0D12"/>
          </a:solidFill>
          <a:ln w="3175">
            <a:solidFill>
              <a:srgbClr val="8A847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0120" y="4800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Procurement · local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114800" y="4800600"/>
            <a:ext cx="1463040" cy="457200"/>
          </a:xfrm>
          <a:prstGeom prst="rect">
            <a:avLst/>
          </a:prstGeom>
          <a:solidFill>
            <a:srgbClr val="0D0D12"/>
          </a:solidFill>
          <a:ln w="3175">
            <a:solidFill>
              <a:srgbClr val="8A847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51960" y="48006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577840" y="4800600"/>
            <a:ext cx="1645920" cy="457200"/>
          </a:xfrm>
          <a:prstGeom prst="rect">
            <a:avLst/>
          </a:prstGeom>
          <a:solidFill>
            <a:srgbClr val="0D0D12"/>
          </a:solidFill>
          <a:ln w="3175">
            <a:solidFill>
              <a:srgbClr val="8A847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15000" y="4800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223760" y="4800600"/>
            <a:ext cx="4114800" cy="457200"/>
          </a:xfrm>
          <a:prstGeom prst="rect">
            <a:avLst/>
          </a:prstGeom>
          <a:solidFill>
            <a:srgbClr val="0D0D12"/>
          </a:solidFill>
          <a:ln w="3175">
            <a:solidFill>
              <a:srgbClr val="8A847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60920" y="4800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本地候选池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822960" y="5257800"/>
            <a:ext cx="3291840" cy="457200"/>
          </a:xfrm>
          <a:prstGeom prst="rect">
            <a:avLst/>
          </a:prstGeom>
          <a:solidFill>
            <a:srgbClr val="0D0D12"/>
          </a:solidFill>
          <a:ln w="3175">
            <a:solidFill>
              <a:srgbClr val="8A847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0120" y="5257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Procurement · http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114800" y="5257800"/>
            <a:ext cx="1463040" cy="457200"/>
          </a:xfrm>
          <a:prstGeom prst="rect">
            <a:avLst/>
          </a:prstGeom>
          <a:solidFill>
            <a:srgbClr val="0D0D12"/>
          </a:solidFill>
          <a:ln w="3175">
            <a:solidFill>
              <a:srgbClr val="8A847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51960" y="5257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8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5577840" y="5257800"/>
            <a:ext cx="1645920" cy="457200"/>
          </a:xfrm>
          <a:prstGeom prst="rect">
            <a:avLst/>
          </a:prstGeom>
          <a:solidFill>
            <a:srgbClr val="0D0D12"/>
          </a:solidFill>
          <a:ln w="3175">
            <a:solidFill>
              <a:srgbClr val="8A847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15000" y="5257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WARN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223760" y="5257800"/>
            <a:ext cx="4114800" cy="457200"/>
          </a:xfrm>
          <a:prstGeom prst="rect">
            <a:avLst/>
          </a:prstGeom>
          <a:solidFill>
            <a:srgbClr val="0D0D12"/>
          </a:solidFill>
          <a:ln w="3175">
            <a:solidFill>
              <a:srgbClr val="8A847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60920" y="5257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允许 fallback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10545775" y="6355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10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0545775" y="6629400"/>
            <a:ext cx="128016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31175" y="137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能力驱动 · 舞台运营系统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章节 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主流程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2377440" cy="1188720"/>
          </a:xfrm>
          <a:prstGeom prst="rect">
            <a:avLst/>
          </a:prstGeom>
          <a:solidFill>
            <a:srgbClr val="1A1A2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749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41605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舞台输入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4612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11880" y="3657600"/>
            <a:ext cx="2377440" cy="1188720"/>
          </a:xfrm>
          <a:prstGeom prst="rect">
            <a:avLst/>
          </a:prstGeom>
          <a:solidFill>
            <a:srgbClr val="1A1A2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3749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94760" y="41605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AI/Mock 生成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3504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00800" y="3657600"/>
            <a:ext cx="2377440" cy="1188720"/>
          </a:xfrm>
          <a:prstGeom prst="rect">
            <a:avLst/>
          </a:prstGeom>
          <a:solidFill>
            <a:srgbClr val="1A1A2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3749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41605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确认(隐私)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82396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89720" y="3657600"/>
            <a:ext cx="2377440" cy="1188720"/>
          </a:xfrm>
          <a:prstGeom prst="rect">
            <a:avLst/>
          </a:prstGeom>
          <a:solidFill>
            <a:srgbClr val="1A1A22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72600" y="3749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72600" y="41605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导出发布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确认前强制再校验:以 DB 最新 stage_inputs.data 为准,结果写入 __validationHistory。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每次确认状态变化会 outbound webhook,失败不影响主流程。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45775" y="6355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10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545775" y="6629400"/>
            <a:ext cx="128016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31175" y="137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能力驱动 · 舞台运营系统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章节 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确认流程强化(近期工作)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137160" cy="59436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4688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确认前强制再校验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74920" y="246888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 DB 最新数据重跑,结果强制写入 __validationHistory。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137160" cy="59436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2461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解密预览弹窗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74920" y="324612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AlertDialog 展示待确认字段快照 + 错误/提示分栏。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023360"/>
            <a:ext cx="137160" cy="59436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0233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点击标签定位字段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74920" y="402336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 tag → /projects/:id/edit#field-&lt;name&gt; 平滑滚动 + 分阶段高亮。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800600"/>
            <a:ext cx="137160" cy="59436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48006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返回确认回环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074920" y="480060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编辑页「返回确认」→ ?confirm=1 自动重开弹窗并 toast 结果。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5577840"/>
            <a:ext cx="137160" cy="59436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" y="55778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可访问性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074920" y="5577840"/>
            <a:ext cx="6583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aria-label、aria-live、focus-visible ring、min-h-dvh。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45775" y="6355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10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0545775" y="6629400"/>
            <a:ext cx="128016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7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031175" y="137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能力驱动 · 舞台运营系统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章节 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3716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集成边界 · 强约束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3566160" cy="3474720"/>
          </a:xfrm>
          <a:prstGeom prst="rect">
            <a:avLst/>
          </a:prstGeom>
          <a:solidFill>
            <a:srgbClr val="1A1A22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651760"/>
            <a:ext cx="137160" cy="3474720"/>
          </a:xfrm>
          <a:prstGeom prst="rect">
            <a:avLst/>
          </a:prstGeom>
          <a:solidFill>
            <a:srgbClr val="C8423B"/>
          </a:solidFill>
          <a:ln w="12700">
            <a:solidFill>
              <a:srgbClr val="C842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788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Webhook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42900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Outbound only。失败不影响主流程。不引入 HMAC / nonce / replay / queue —— 除非明确进入 v5。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2651760"/>
            <a:ext cx="3566160" cy="3474720"/>
          </a:xfrm>
          <a:prstGeom prst="rect">
            <a:avLst/>
          </a:prstGeom>
          <a:solidFill>
            <a:srgbClr val="1A1A22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651760"/>
            <a:ext cx="137160" cy="3474720"/>
          </a:xfrm>
          <a:prstGeom prst="rect">
            <a:avLst/>
          </a:prstGeom>
          <a:solidFill>
            <a:srgbClr val="C8423B"/>
          </a:solidFill>
          <a:ln w="12700">
            <a:solidFill>
              <a:srgbClr val="C842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788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AI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37760" y="342900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统一走 Lovable AI Gateway,自动 fallback 至 mock 生成器。禁止绕过 Gateway 直连模型厂商。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03920" y="2651760"/>
            <a:ext cx="3566160" cy="3474720"/>
          </a:xfrm>
          <a:prstGeom prst="rect">
            <a:avLst/>
          </a:prstGeom>
          <a:solidFill>
            <a:srgbClr val="1A1A22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0" y="2651760"/>
            <a:ext cx="137160" cy="3474720"/>
          </a:xfrm>
          <a:prstGeom prst="rect">
            <a:avLst/>
          </a:prstGeom>
          <a:solidFill>
            <a:srgbClr val="C8423B"/>
          </a:solidFill>
          <a:ln w="12700">
            <a:solidFill>
              <a:srgbClr val="C84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27889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采购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778240" y="3429000"/>
            <a:ext cx="32004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local + http fallback,不接入真实外部采购系统。procurement.http 允许 WARN。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45775" y="6355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/ 10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545775" y="6629400"/>
            <a:ext cx="1280160" cy="1828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365760"/>
            <a:ext cx="12191695" cy="594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0" b="1" dirty="0">
                <a:solidFill>
                  <a:srgbClr val="1A1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IV</a:t>
            </a:r>
            <a:endParaRPr lang="en-US" sz="62000" dirty="0"/>
          </a:p>
        </p:txBody>
      </p:sp>
      <p:sp>
        <p:nvSpPr>
          <p:cNvPr id="3" name="Shape 1"/>
          <p:cNvSpPr/>
          <p:nvPr/>
        </p:nvSpPr>
        <p:spPr>
          <a:xfrm>
            <a:off x="4998568" y="2286000"/>
            <a:ext cx="219456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800" kern="0" dirty="0">
                <a:solidFill>
                  <a:srgbClr val="F5E8C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能力先行 · 版本随行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0" y="393192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spc="600" kern="0" dirty="0">
                <a:solidFill>
                  <a:srgbClr val="D4AF3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每一次发布,都是一次可复盘的能力验收。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998568" y="4709160"/>
            <a:ext cx="2194560" cy="274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60807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600" kern="0" dirty="0">
                <a:solidFill>
                  <a:srgbClr val="8A84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StageOS · 治理章程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2026-07-02T16:47:39Z</dcterms:created>
  <dcterms:modified xsi:type="dcterms:W3CDTF">2026-07-02T16:47:39Z</dcterms:modified>
</cp:coreProperties>
</file>